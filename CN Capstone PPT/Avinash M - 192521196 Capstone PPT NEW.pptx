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3" r:id="rId10"/>
    <p:sldId id="264" r:id="rId11"/>
    <p:sldId id="265" r:id="rId12"/>
    <p:sldId id="266" r:id="rId13"/>
    <p:sldId id="267" r:id="rId14"/>
    <p:sldId id="272" r:id="rId15"/>
    <p:sldId id="273" r:id="rId16"/>
    <p:sldId id="274" r:id="rId17"/>
    <p:sldId id="268" r:id="rId18"/>
    <p:sldId id="269" r:id="rId19"/>
    <p:sldId id="270" r:id="rId20"/>
    <p:sldId id="271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7FC4-2846-86C3-59C8-440C65DAD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0258B-E2A0-D7CC-AC20-DA8685704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B8181-28C8-0C78-189C-B9BD5BBD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2F413-2862-34B9-CDBB-CC8BF2E35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D3647-2B40-BE5E-80AE-2B861B1F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2F2A-6BB5-1DA1-F049-41D03270D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8A00-E96A-4FF0-7147-A834B2097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44018-88E3-638E-10C7-40D8A2C6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58DF0-2C95-AB90-FA97-58183CF5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E34AC-806A-B4AE-90B8-8C6C7924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2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63B5-A2EC-BAD5-2304-C762C6CF3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D1E27-C8E1-DDB2-0E5D-6C9BF1F57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ECB7-5085-61CF-0799-712D03EA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AA604-5826-0829-C7E0-535FA995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0BB77-2767-954A-4C0E-1EE31ECF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18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ACA1-43CA-6192-4686-B4223E23C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DF9AF-EC28-77C7-3F46-C711D2E51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4396E-E2A6-AE51-4E0A-34F35EC39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2C979-A984-F344-D9AF-51E3727F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72B68-DE13-3F75-6708-40CBE372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3990C-5D10-715C-79F8-27CB2CB3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88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1A6E9-C6FF-64B6-1FDC-3BDB401F5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B920E-029C-953F-6423-F7DC9E589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857E3-10F9-4941-E5CE-8082BE6BA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E9726-1487-BEA9-2360-9BEB8D6D8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288A2-B425-6EA9-69C4-06C73DF16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16EA8A-C6E0-A303-2005-9C66AA8F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19FA2C-B22F-05D8-3E3F-788F31898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8B491-1C7C-8B99-3C62-8A91F6BE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6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77F9-C956-5D7C-AF10-4EE4481D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D4F51-A3F6-D827-4FF4-94021B54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52C80-BA15-0C18-6FF1-A13AA9D34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FF7D5-938F-AFA0-4758-A5C7E715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83209F-407F-CC5D-DC6A-E36D8427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44383-E4F7-46BC-E77C-5CF168DBD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95B8A-EA82-1B86-BD23-CF185DA6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422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3E217-8081-1081-0E8F-CF9C53EE4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297A9-2B04-50DF-83A4-555B41B4E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0D6F3-C158-F3DA-CA4C-B9787C52A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081C9-7E64-28F9-AF9C-7D2C37649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26495-EAB2-FD9F-FDDD-C0983469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8E06C-6AAB-D0D3-AD9B-E3CAE3B3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90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E33B-4EAC-C1F7-D3CF-E5A97493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56A8A-1A3A-DFCB-38A5-AA9A2DFFB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B3196-160C-BBA7-45A3-A305C9A8C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1E319-804B-38B7-32CA-705DD4B9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F04A7-2F51-C04A-0AA1-573A48E8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AD4DE-0B50-0C53-3489-2117D728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791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9F7F-8191-34C8-FAC7-ED03680C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8ED07-A08D-C051-FA47-E0AB7205E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9513-7AD9-76DE-FB04-FAA2A69F8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DA793-C22E-19AB-0135-19FE59D53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3E873-1383-8805-1534-810D31BB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40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B679EA-4548-500B-9813-936F90271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43C12-BCA4-EE26-DF45-4A643241E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1A6B3-DD03-05F9-F47F-0F25B667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B14A6-F220-4DD1-62BF-3CDBB0D7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10F05-14BE-E22F-7A5F-EA231048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42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B02FC-E150-C666-682B-E39722A9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D70E3-FCD0-32AF-C2C1-99D4E17DF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9995A-15B1-67C4-A91E-F31D6FD27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802686-7E15-4C23-87E7-E97A250F31CD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04446-8AB4-0373-F95F-06035448F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993C8-AA94-0E0D-3CAA-8FFAD41FA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0D442-9EC0-49BE-A045-4A7DB4E3BD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8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DCE0-585C-169D-1D65-E8D7F3D78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808" y="1673352"/>
            <a:ext cx="9326880" cy="168249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DDoS Detection &amp; Automatic Prevention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1C3AB-FB77-BD96-42B2-6AED25898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536" y="3429000"/>
            <a:ext cx="2773680" cy="2942019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Google Shape;100;p13" descr="SSE-Computer Science and Engineering">
            <a:extLst>
              <a:ext uri="{FF2B5EF4-FFF2-40B4-BE49-F238E27FC236}">
                <a16:creationId xmlns:a16="http://schemas.microsoft.com/office/drawing/2014/main" id="{DF99CFBC-4E68-4B9D-1F68-13D8469E79F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9010" y="0"/>
            <a:ext cx="12042477" cy="13048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ADBDA9-A7C1-FB0E-3B52-18E54B0B18AA}"/>
              </a:ext>
            </a:extLst>
          </p:cNvPr>
          <p:cNvSpPr txBox="1"/>
          <p:nvPr/>
        </p:nvSpPr>
        <p:spPr>
          <a:xfrm>
            <a:off x="505968" y="4613255"/>
            <a:ext cx="3371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Course Faculty :</a:t>
            </a:r>
          </a:p>
          <a:p>
            <a:pPr lvl="0" algn="ctr"/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Dr. Shankar Ramalingam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C832D-D13A-6AE2-76B2-ECB5ABB92411}"/>
              </a:ext>
            </a:extLst>
          </p:cNvPr>
          <p:cNvSpPr txBox="1"/>
          <p:nvPr/>
        </p:nvSpPr>
        <p:spPr>
          <a:xfrm>
            <a:off x="7626096" y="4613255"/>
            <a:ext cx="38039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Avinash M (192521196)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Althaf A (192521257)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Rithik Rakshgan (192524419)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Vikesh N (192312022)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D76AC-A231-67D0-528C-0C8CFC450AFA}"/>
              </a:ext>
            </a:extLst>
          </p:cNvPr>
          <p:cNvSpPr txBox="1"/>
          <p:nvPr/>
        </p:nvSpPr>
        <p:spPr>
          <a:xfrm>
            <a:off x="3467586" y="3575305"/>
            <a:ext cx="471020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CSA0707 – Computer Networks</a:t>
            </a:r>
            <a:endParaRPr lang="en-IN" sz="25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6DA753-8624-8ECD-02C7-0FB453953C7F}"/>
              </a:ext>
            </a:extLst>
          </p:cNvPr>
          <p:cNvCxnSpPr/>
          <p:nvPr/>
        </p:nvCxnSpPr>
        <p:spPr>
          <a:xfrm>
            <a:off x="1518248" y="3502152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4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7705-EA7F-149E-6D96-6F9A9C6D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43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6C06C-63CF-6E7E-F5B6-C155B480B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Denial-of-Service (DDoS) attacks overwhelm a network      or service with excessive traffic. </a:t>
            </a:r>
          </a:p>
          <a:p>
            <a:pPr lvl="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attacks can cause slow performance, service unavailability, and resource exhaustion. </a:t>
            </a:r>
          </a:p>
          <a:p>
            <a:pPr lvl="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threshold-based detection may struggle with changing traffic patterns. </a:t>
            </a:r>
          </a:p>
          <a:p>
            <a:pPr lvl="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can identify suspicious patterns from network traffic characteristics. </a:t>
            </a:r>
          </a:p>
          <a:p>
            <a:pPr lvl="0">
              <a:lnSpc>
                <a:spcPct val="11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network monitoring, Machine Learning, and automatic prevention. </a:t>
            </a:r>
          </a:p>
          <a:p>
            <a:pPr>
              <a:lnSpc>
                <a:spcPct val="11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94450-7B1E-6571-B004-A83EFAA42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22066"/>
            <a:ext cx="1133475" cy="1216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49262C-BF1D-7027-B727-8BE9CC193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1464" y="27832"/>
            <a:ext cx="1225296" cy="107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96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606D-002A-DFD8-9BFB-FB244A15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318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D578-D849-7A54-F2DC-2691EC04F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3475" y="2506661"/>
            <a:ext cx="10515600" cy="4351338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software-based system for real-time DDoS detection.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normal and suspicious network traffic in a controlled local environment.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useful network features from observed traffic.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Machine Learning model to distinguish Normal and DDoS traffic.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respond to detected malicious traffic.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1F7977-8CBB-113F-55C6-962C29EE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133475" cy="1188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EC862-3387-4B57-418C-91E3A00C1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525" y="-1"/>
            <a:ext cx="1133475" cy="102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93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2DE4-A2E0-0964-606D-199F2CF0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8702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E0E96-D696-E904-3C94-C17030CD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4265"/>
            <a:ext cx="10515600" cy="4351338"/>
          </a:xfrm>
        </p:spPr>
        <p:txBody>
          <a:bodyPr>
            <a:normAutofit fontScale="925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DDoS attacks can generate extremely high traffic within a short period.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traffic spikes can consume server, network, and application resources.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traffic thresholds may produce false positives or false negatives.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attack identification and response can introduce significant delay.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administrators need continuous visibility into traffic behavior.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suspicious source devices is difficult during high-volume traffic.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6EA4C-2288-BD30-8B91-511D4DCDE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9"/>
            <a:ext cx="1133475" cy="1115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3B101D-D547-DCB9-C262-F0F4B7BCD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8289"/>
            <a:ext cx="1143000" cy="100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41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5151-BB3D-F10A-0C94-3CF6CB5AB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93897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44AF4-E5BD-15CC-9CB4-5A8202260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4537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controlled normal and DDoS-like traffic in a local simulation environment.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incoming traffic and collect relevant network statistics.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such as packet rate, request rate, byte rate, and source count.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the extracted features into a trained Random Forest classifier.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the observed traffic as Normal or DDoS.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confidence score for the AI prediction.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CCCD0-3FBE-9EAC-B3B1-C061C71AE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74"/>
            <a:ext cx="1133475" cy="1119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9750A2-20CF-F738-E656-B6CF0E25E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525" y="-1"/>
            <a:ext cx="1133475" cy="99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27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0359-5EDC-EBED-30FA-0EDFA9DC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3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A7AE7-B07C-D9A1-04FD-F6C79A2D1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570"/>
            <a:ext cx="10515600" cy="43513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Simulation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Monitoring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Detection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/ DDoS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Prevention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BB635-3C9C-73EF-E4B4-A9C53A378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133475" cy="1014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48E1DF-4681-B3FE-9A4E-AC6294571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525" y="-1"/>
            <a:ext cx="1133475" cy="99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63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FCC3-59AC-6837-C400-89F4F88D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28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3517-5D65-D269-378F-CAF8B1535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30550"/>
            <a:ext cx="11021568" cy="2737231"/>
          </a:xfrm>
        </p:spPr>
        <p:txBody>
          <a:bodyPr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Generator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produces controlled network traffic.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Monitor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collects and analyzes traffic activity.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converts traffic data into ML features.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Detector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classifies traffic using the trained Random Forest model.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Engine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blocks detected malicious sources.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BB1D6-CF13-CEA7-3011-815E9CBDD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133475" cy="1014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BC7F40-FE43-841C-4354-AFE5D56BE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245" y="0"/>
            <a:ext cx="1151755" cy="101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15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B871F-E7D6-B760-AFC2-8617C66E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-156083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Flow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44226A-D96C-C238-3AF0-EFFA08832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3284" y="987552"/>
            <a:ext cx="6664452" cy="57972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9D32A3-8FF8-C61F-887F-28FA794BE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963168" cy="8660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B31DBC-4C86-F7A0-B875-E4B8F0896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0"/>
            <a:ext cx="963168" cy="85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87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F124-15D2-9FCE-354F-CE311D047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170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Network Traffic Simulation &amp;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E6B3D-4EC1-A917-7B29-8977C670D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6453"/>
            <a:ext cx="10515600" cy="3029839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local software-based network environment for testing DDoS behavior.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both normal traffic and suspicious/high-volume traffic.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multiple devices using different source IP addresses.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requests, packets, bytes, and traffic rates.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 5-second traffic analysis window for real-time monitoring.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9E7B7-EE8D-0ACB-4B6F-B7B84D31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094038" cy="961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8A4C69-9866-B460-CBEF-EFD53E6EA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962" y="-2413"/>
            <a:ext cx="1094038" cy="96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56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1F4E7-D275-D152-7B07-3495B7A4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7674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AI-Based DDoS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C872A-3C51-6B5D-EFA0-5E495CAAA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92" y="2762694"/>
            <a:ext cx="10515600" cy="3628962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monitored network traffic into machine-learning features.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features such as packet rate, byte rate, connection/source rate, and request rate.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labeled dataset containing Normal and DDoS traffic patterns.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Random Forest Classifier for traffic classification.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the model using historical/simulated network traffic data.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C8244-FAA0-A006-FD60-D1CD1C155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078992" cy="1057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DBFB13-F563-1C08-0884-386A421CE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456" y="17795"/>
            <a:ext cx="1135543" cy="100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5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047B-BE71-E495-BF45-3CAED0CF6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641"/>
            <a:ext cx="10515600" cy="1325563"/>
          </a:xfrm>
        </p:spPr>
        <p:txBody>
          <a:bodyPr>
            <a:noAutofit/>
          </a:bodyPr>
          <a:lstStyle/>
          <a:p>
            <a:pPr algn="ctr"/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— Automatic DDoS Prevention &amp; Security Response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C8202-3E4D-14D0-302D-46B2732C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775" y="3178620"/>
            <a:ext cx="10515600" cy="3185287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Receives the DDoS prediction from the AI detection engine. </a:t>
            </a:r>
          </a:p>
          <a:p>
            <a:pPr lvl="0"/>
            <a:r>
              <a:rPr lang="en-IN" dirty="0"/>
              <a:t>Identifies the source IP/device associated with suspicious traffic. </a:t>
            </a:r>
          </a:p>
          <a:p>
            <a:pPr lvl="0"/>
            <a:r>
              <a:rPr lang="en-IN" dirty="0"/>
              <a:t>Automatically applies a temporary blocking mechanism. </a:t>
            </a:r>
          </a:p>
          <a:p>
            <a:pPr lvl="0"/>
            <a:r>
              <a:rPr lang="en-IN" dirty="0"/>
              <a:t>Prevents further traffic from a blocked source during the mitigation period. </a:t>
            </a:r>
          </a:p>
          <a:p>
            <a:pPr lvl="0"/>
            <a:r>
              <a:rPr lang="en-IN" dirty="0"/>
              <a:t>Maintains an active blocklist with expiration times.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4F711-B742-9361-9662-02C4EF216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2"/>
            <a:ext cx="996696" cy="1023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F276C9-FD7A-5812-B82A-05C063F71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4751" y="0"/>
            <a:ext cx="1077249" cy="94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42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3360-8851-1957-525C-2007BE3A1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2473"/>
            <a:ext cx="110490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— Security Operations Dashboard &amp; Device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2FE5F-B4CD-E625-DCBE-1E237AA21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7207"/>
            <a:ext cx="10628376" cy="3735515"/>
          </a:xfrm>
        </p:spPr>
        <p:txBody>
          <a:bodyPr>
            <a:normAutofit lnSpcReduction="1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real-time Security Operations Center (SOC)-style dashboard.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traffic status, request rate, packet rate, AI confidence, and threat counts.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live network traffic analytics using a continuously updated chart.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simulated device locations and geographic network activity.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device IP, device ID, location, traffic rate, AI result, and security status.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6CF530-FCBB-38D9-BCAE-7FC0FC80E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" cy="987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211272-99C9-E7B7-83D0-5C0F5FD81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341" y="9144"/>
            <a:ext cx="1120659" cy="98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56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B0C8C-CFAF-FD61-AB14-3FAD51B9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93" y="28555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5F35B8-D89E-64B5-4803-3C16745C0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" y="1690688"/>
            <a:ext cx="11512296" cy="50949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B853D6-C553-E951-925E-D45A8309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" y="0"/>
            <a:ext cx="926592" cy="978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3F7FC0-FA1B-114A-4B28-170D880E0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6982" y="29940"/>
            <a:ext cx="1042157" cy="91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75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8101-23DE-F15D-F846-0D0D43BB8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96726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Prevention &amp;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96C0-11C4-A8C3-F906-DAE52B8AF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520" y="2506662"/>
            <a:ext cx="10515600" cy="4351338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prevention module receives the ML prediction.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traffic is classified as DDoS, the source IP is identified.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malicious IP is added to a temporary block list.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implementation, the default blocking period is 15 seconds.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from blocked sources are rejected during the blocking period.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Expired blocks are automatically removed.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5C693-DCE8-3048-7CFE-9F274B8E9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1850" cy="975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57CD54-CE5C-AA9F-5967-729092CE4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864" y="8347"/>
            <a:ext cx="1088136" cy="95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75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9932-DF76-0AC4-BBB5-5F8E4315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28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70505-807B-AAF6-2C45-8924F89CA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848" y="2950337"/>
            <a:ext cx="11317224" cy="2810383"/>
          </a:xfrm>
        </p:spPr>
        <p:txBody>
          <a:bodyPr>
            <a:noAutofit/>
          </a:bodyPr>
          <a:lstStyle/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generates normal and DDoS-like traffic locally.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traffic monitoring through the dashboard.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performs automatic traffic classification.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source IPs are identified at device level.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temporary blocking works without manual intervention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30273-8669-B363-A654-075D16506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2122" cy="9824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5C038B-F564-9E09-403B-C38962762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0"/>
            <a:ext cx="1036320" cy="91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25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E130-3ABA-F426-2FDB-35D6879B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983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3CD62-14C9-30B2-5665-6327C4ADA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5393"/>
            <a:ext cx="10515600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simulated network traffic instead of live enterprise traffic.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 depends on the quality and representativeness of the training dataset.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implementation supports Normal and DDoS classification only.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IP blocking is implemented for simulation purposes.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for localhost/software-only deployment.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currently integrate with real routers, firewalls, or IDS/IPS hardware.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E1202-B41E-D06C-DE56-7CD8B458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2122" cy="1009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FE0844-276A-B621-7D4A-51456C6BA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1024" y="0"/>
            <a:ext cx="950976" cy="83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25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A200F-C12B-3AE7-D135-0D28ED3A0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767556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Disadvantages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304A8-8F61-9F99-A567-85B14C982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783" y="2093119"/>
            <a:ext cx="5157787" cy="82391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46831-CDD9-CDE8-22B4-0E89A1F94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808287"/>
            <a:ext cx="5157787" cy="3684588"/>
          </a:xfrm>
        </p:spPr>
        <p:txBody>
          <a:bodyPr>
            <a:normAutofit fontScale="70000" lnSpcReduction="20000"/>
          </a:bodyPr>
          <a:lstStyle/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DDoS detection using Machine Learning.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dependence on manual traffic monitoring.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automatic response to detected malicious sources.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network visibility through the dashboard.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source devices and simulated geographic locations.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E6B05-4097-2919-6BE1-81EC46AEA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6136" y="2093119"/>
            <a:ext cx="5183188" cy="82391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F73372-3125-9BF2-3773-AD6AC9E1D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2808287"/>
            <a:ext cx="5634789" cy="3684588"/>
          </a:xfrm>
        </p:spPr>
        <p:txBody>
          <a:bodyPr>
            <a:normAutofit fontScale="70000" lnSpcReduction="20000"/>
          </a:bodyPr>
          <a:lstStyle/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implementation is primarily a controlled local simulation.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locations do not represent real-world IP geolocation.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performance depends on the quality of training data.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trained model may not identify every new or unseen attack pattern.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prevention mechanism is designed for the simulator.</a:t>
            </a:r>
          </a:p>
          <a:p>
            <a:pPr>
              <a:lnSpc>
                <a:spcPct val="12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607337-8922-9F00-E88B-87E2C0CED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8992" cy="11265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212456-4257-9F9D-EB04-F156284EB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3007" y="0"/>
            <a:ext cx="1078993" cy="95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96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2099-8407-E26C-333F-C783AAD1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34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A657E-F35B-2614-4413-919C324BD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2916"/>
            <a:ext cx="11180064" cy="3404743"/>
          </a:xfrm>
        </p:spPr>
        <p:txBody>
          <a:bodyPr>
            <a:noAutofit/>
          </a:bodyPr>
          <a:lstStyle/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 network packet capture and live network interfaces.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additional DDoS attack categories and traffic protocols.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real-world network-security datasets for model training.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Machine Learning and Deep Learning algorithms.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 IP reputation and geolocation services.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3FCD2-A51D-5569-7F32-94AE83FF2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57909" cy="1024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D6AFF5-C356-9BAC-5881-31683088C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36" y="0"/>
            <a:ext cx="1045464" cy="92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05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6431-4533-1127-D486-5B0ABDD1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664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78F5-DAF8-4719-5B29-0C4FE0118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3884994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an integrated approach to DDoS detection and prevention.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traffic is continuously monitored and converted into useful features.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used to identify suspicious traffic patterns.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Random Forest model classifies traffic as Normal or DDoS.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malicious sources can be automatically blocked.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36A25-8E19-E2F3-5838-F22794FA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96696" cy="9458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D0D513-BD95-4794-565F-7F6E6C5C9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5304" y="0"/>
            <a:ext cx="996696" cy="87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66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1979-8555-BBAC-E016-01B6EF13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543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2DF0-33B1-6BAF-CC50-242A673BA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690688"/>
            <a:ext cx="11058144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I. Sharafaldin et al., “Developing Realistic DDoS Attack Dataset and Taxonomy,” IEEE ICCST, 2019.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Z. He et al., “Machine Learning Based DDoS Attack Detection from Source Side in Cloud,” IEEE CSCloud, 2017.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R. Doshi et al., “Machine Learning DDoS Detection for Consumer Internet of Things Devices,” IEEE SPW, 2018.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“DDoS Attacks Detection and Mitigation in SDN Using Machine Learning,” IEEE SERVICES, 2019.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“Online Network DoS/DDoS Detection: Sampling, Change Point Detection, and Machine Learning Methods,” IEEE Communications Surveys &amp; Tutorials, 2025.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Canadian Institute for Cybersecurity, “CICDDoS2019: DDoS Attack Dataset,” University of New Brunswick, 2019.</a:t>
            </a:r>
          </a:p>
          <a:p>
            <a:pPr marL="0" indent="0">
              <a:lnSpc>
                <a:spcPct val="12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69625-4097-BE0F-ECA9-E46FCA11D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5256" cy="918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D60A06-53E8-BCA2-C31C-E0DD4B3F8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530" y="0"/>
            <a:ext cx="990470" cy="9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953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957D52-6CBE-11EB-B2BE-3C0671076B67}"/>
              </a:ext>
            </a:extLst>
          </p:cNvPr>
          <p:cNvSpPr txBox="1"/>
          <p:nvPr/>
        </p:nvSpPr>
        <p:spPr>
          <a:xfrm>
            <a:off x="2706624" y="2767280"/>
            <a:ext cx="74706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397502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1167</Words>
  <Application>Microsoft Office PowerPoint</Application>
  <PresentationFormat>Widescreen</PresentationFormat>
  <Paragraphs>137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Office Theme</vt:lpstr>
      <vt:lpstr>AI-Based DDoS Detection &amp; Automatic Prevention</vt:lpstr>
      <vt:lpstr>Introduction</vt:lpstr>
      <vt:lpstr>Objective</vt:lpstr>
      <vt:lpstr>Problem Statement</vt:lpstr>
      <vt:lpstr>Proposed Methodology</vt:lpstr>
      <vt:lpstr>Methodology Flow</vt:lpstr>
      <vt:lpstr>System Architecture  Components</vt:lpstr>
      <vt:lpstr>Architecture Flow</vt:lpstr>
      <vt:lpstr>Module 1 — Network Traffic Simulation &amp; Monitoring</vt:lpstr>
      <vt:lpstr>Module 2 — AI-Based DDoS Detection</vt:lpstr>
      <vt:lpstr>  Module 3 — Automatic DDoS Prevention &amp; Security Response </vt:lpstr>
      <vt:lpstr>Module 4 — Security Operations Dashboard &amp; Device Intelligence</vt:lpstr>
      <vt:lpstr>Implementation</vt:lpstr>
      <vt:lpstr>Automatic Prevention &amp; Response</vt:lpstr>
      <vt:lpstr>System Output &amp; Performance</vt:lpstr>
      <vt:lpstr>Limitations of the Proposed System</vt:lpstr>
      <vt:lpstr>Advantages &amp; Disadvantages</vt:lpstr>
      <vt:lpstr>Future Scope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avinash2925@outlook.com</dc:creator>
  <cp:lastModifiedBy>avinash2925@outlook.com</cp:lastModifiedBy>
  <cp:revision>3</cp:revision>
  <dcterms:created xsi:type="dcterms:W3CDTF">2026-09-03T09:11:06Z</dcterms:created>
  <dcterms:modified xsi:type="dcterms:W3CDTF">2026-09-07T01:54:35Z</dcterms:modified>
</cp:coreProperties>
</file>